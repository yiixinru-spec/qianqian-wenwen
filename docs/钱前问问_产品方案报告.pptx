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53A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19"/>
    <p:restoredTop sz="94694"/>
  </p:normalViewPr>
  <p:slideViewPr>
    <p:cSldViewPr snapToGrid="0">
      <p:cViewPr varScale="1">
        <p:scale>
          <a:sx n="121" d="100"/>
          <a:sy n="121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708E0-30DC-42CC-BF43-99F747FD2CF5}" type="datetime1">
              <a:rPr lang="en-US" altLang="zh-CN"/>
            </a:fld>
            <a:endParaRPr lang="en-US" altLang="zh-CN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2" name="Slide Number Placeholder 5"/>
          <p:cNvSpPr txBox="1"/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60A8787-40F9-4857-8BCA-0AA163C29BD7}" type="slidenum">
              <a:rPr lang="en-US" altLang="zh-CN" smtClean="0">
                <a:solidFill>
                  <a:prstClr val="black"/>
                </a:solidFill>
                <a:latin typeface="Tw Cen MT" panose="020B0602020104020603"/>
                <a:ea typeface="华文仿宋" panose="02010600040101010101" pitchFamily="2" charset="-122"/>
              </a:rPr>
            </a:fld>
            <a:endParaRPr lang="en-US" altLang="zh-CN">
              <a:solidFill>
                <a:prstClr val="black"/>
              </a:solidFill>
              <a:latin typeface="Tw Cen MT" panose="020B0602020104020603"/>
              <a:ea typeface="华文仿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0957D-9C82-BD45-96E0-1D8FB702D9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60A8787-40F9-4857-8BCA-0AA163C29BD7}" type="slidenum">
              <a:rPr lang="en-US" altLang="zh-CN" smtClean="0">
                <a:solidFill>
                  <a:prstClr val="black"/>
                </a:solidFill>
                <a:latin typeface="Tw Cen MT" panose="020B0602020104020603"/>
                <a:ea typeface="华文仿宋" panose="02010600040101010101" pitchFamily="2" charset="-122"/>
              </a:rPr>
            </a:fld>
            <a:endParaRPr lang="en-US" altLang="zh-CN">
              <a:solidFill>
                <a:prstClr val="black"/>
              </a:solidFill>
              <a:latin typeface="Tw Cen MT" panose="020B0602020104020603"/>
              <a:ea typeface="华文仿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0957D-9C82-BD45-96E0-1D8FB702D9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Slide Number Placeholder 5"/>
          <p:cNvSpPr txBox="1"/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60A8787-40F9-4857-8BCA-0AA163C29BD7}" type="slidenum">
              <a:rPr lang="en-US" altLang="zh-CN" smtClean="0">
                <a:solidFill>
                  <a:prstClr val="black"/>
                </a:solidFill>
                <a:latin typeface="Tw Cen MT" panose="020B0602020104020603"/>
                <a:ea typeface="华文仿宋" panose="02010600040101010101" pitchFamily="2" charset="-122"/>
              </a:rPr>
            </a:fld>
            <a:endParaRPr lang="en-US" altLang="zh-CN">
              <a:solidFill>
                <a:prstClr val="black"/>
              </a:solidFill>
              <a:latin typeface="Tw Cen MT" panose="020B0602020104020603"/>
              <a:ea typeface="华文仿宋" panose="02010600040101010101" pitchFamily="2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5080" y="923290"/>
            <a:ext cx="6280785" cy="1143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0957D-9C82-BD45-96E0-1D8FB702D9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2AE26B-AB71-7940-9A68-CC38E52CE3B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0" y="0"/>
            <a:ext cx="3611880" cy="6858000"/>
          </a:xfrm>
          <a:prstGeom prst="rect">
            <a:avLst/>
          </a:prstGeom>
          <a:solidFill>
            <a:srgbClr val="0825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3611880" y="0"/>
            <a:ext cx="731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658368" y="1097280"/>
            <a:ext cx="237744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产品经理赛道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58368" y="1664208"/>
            <a:ext cx="2468880" cy="9144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3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钱前问问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713232" y="2670048"/>
            <a:ext cx="2468880" cy="8046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大学生入门理财陪伴 AI 智能体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713232" y="5440680"/>
            <a:ext cx="237744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动钱之前，先把问题问清楚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4343400" y="1143000"/>
            <a:ext cx="630936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8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从“想理财”到“会判断”的产品方案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4370832" y="1874519"/>
            <a:ext cx="5943600" cy="6217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以学长学姐式智能体为入口，融合理财起点建档、RAG 知识问答、热点雷达、行为复盘与风险护栏，帮助大学生完成低门槛、非营销、可复盘的入门理财学习。</a:t>
            </a:r>
          </a:p>
        </p:txBody>
      </p:sp>
      <p:sp>
        <p:nvSpPr>
          <p:cNvPr id="30" name="Shape 30"/>
          <p:cNvSpPr/>
          <p:nvPr/>
        </p:nvSpPr>
        <p:spPr>
          <a:xfrm>
            <a:off x="4407408" y="2971800"/>
            <a:ext cx="205740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4572000" y="311810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572000" y="3383280"/>
            <a:ext cx="172821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572000" y="3776472"/>
            <a:ext cx="1728216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在校大学生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生活费/奖学金/兼职收入</a:t>
            </a:r>
          </a:p>
        </p:txBody>
      </p:sp>
      <p:sp>
        <p:nvSpPr>
          <p:cNvPr id="34" name="Shape 34"/>
          <p:cNvSpPr/>
          <p:nvPr/>
        </p:nvSpPr>
        <p:spPr>
          <a:xfrm>
            <a:off x="6711696" y="2971800"/>
            <a:ext cx="205740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6876288" y="311810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876288" y="3383280"/>
            <a:ext cx="172821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876288" y="3776472"/>
            <a:ext cx="1728216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动钱前提问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看热点 / 想买入 / 亏损后</a:t>
            </a:r>
          </a:p>
        </p:txBody>
      </p:sp>
      <p:sp>
        <p:nvSpPr>
          <p:cNvPr id="38" name="Shape 38"/>
          <p:cNvSpPr/>
          <p:nvPr/>
        </p:nvSpPr>
        <p:spPr>
          <a:xfrm>
            <a:off x="9015984" y="2971800"/>
            <a:ext cx="205740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9180576" y="311810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9180576" y="3383280"/>
            <a:ext cx="172821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9180576" y="3776472"/>
            <a:ext cx="1728216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网页智能体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可体验二维码路径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4407408" y="5806440"/>
            <a:ext cx="60350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方案报告｜不含姓名、手机号、身份证等个人信息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PRODUCT CANVAS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产品画布：以大学生每一次“动钱前的困惑”为服务原点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核心不是推荐理财产品，而是陪用户建立判断力</a:t>
            </a:r>
          </a:p>
        </p:txBody>
      </p:sp>
      <p:sp>
        <p:nvSpPr>
          <p:cNvPr id="26" name="Shape 26"/>
          <p:cNvSpPr/>
          <p:nvPr/>
        </p:nvSpPr>
        <p:spPr>
          <a:xfrm>
            <a:off x="594360" y="1664208"/>
            <a:ext cx="3474720" cy="3520440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58952" y="1810512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758952" y="2075688"/>
            <a:ext cx="31455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问题和困扰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58952" y="2468880"/>
            <a:ext cx="3145536" cy="2606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信息很多但真假难辨，用户最后仍独自承担决策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看得到别人赚钱，看不到完整经验链条和亏损过程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亏损金额不大，但可能放大焦虑、回本冲动和借钱风险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缺少非营销、非带单、非攀比的理财学习搭子</a:t>
            </a:r>
          </a:p>
        </p:txBody>
      </p:sp>
      <p:sp>
        <p:nvSpPr>
          <p:cNvPr id="30" name="Shape 30"/>
          <p:cNvSpPr/>
          <p:nvPr/>
        </p:nvSpPr>
        <p:spPr>
          <a:xfrm>
            <a:off x="4343400" y="1664208"/>
            <a:ext cx="3474720" cy="3520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4507992" y="1810512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507992" y="2075688"/>
            <a:ext cx="31455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507992" y="2468880"/>
            <a:ext cx="3145536" cy="2606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理财起点建档，先判断钱能不能动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RAG + 大模型解释基础知识和理财黑话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实时新闻 + 热点雷达训练市场理解能力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计划复盘 + 风险护栏纠正冲动行为</a:t>
            </a:r>
          </a:p>
        </p:txBody>
      </p:sp>
      <p:sp>
        <p:nvSpPr>
          <p:cNvPr id="34" name="Shape 34"/>
          <p:cNvSpPr/>
          <p:nvPr/>
        </p:nvSpPr>
        <p:spPr>
          <a:xfrm>
            <a:off x="8092440" y="1664208"/>
            <a:ext cx="3474720" cy="3520440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8257031" y="1810512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257031" y="2075688"/>
            <a:ext cx="31455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独特价值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257031" y="2468880"/>
            <a:ext cx="3145536" cy="2606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用“学长学姐式过来人”身份建立继续聊天的欲望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从“买什么”转向“是否理解、是否承受、是否可复盘”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轻互动社区沉淀同类关注和学习状态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高危行为以浮窗打断，而不是普通风险文案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USER PERSONA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用户画像：有一点闲钱、想入门、但缺少经验和陪伴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用 persona + JTBD 说明目标用户的真实决策环境</a:t>
            </a:r>
          </a:p>
        </p:txBody>
      </p:sp>
      <p:sp>
        <p:nvSpPr>
          <p:cNvPr id="26" name="Shape 26"/>
          <p:cNvSpPr/>
          <p:nvPr/>
        </p:nvSpPr>
        <p:spPr>
          <a:xfrm>
            <a:off x="685800" y="1508760"/>
            <a:ext cx="2880360" cy="3429000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50392" y="1655063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50392" y="1920240"/>
            <a:ext cx="255117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画像 A：奖学金新手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50392" y="2313432"/>
            <a:ext cx="2551176" cy="2514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资金：奖学金/生活费结余 1000-5000 元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目标：想让钱别只是放着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痛点：不知道哪些钱是真闲钱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需要：低压力解释和资金边界</a:t>
            </a:r>
          </a:p>
        </p:txBody>
      </p:sp>
      <p:sp>
        <p:nvSpPr>
          <p:cNvPr id="30" name="Shape 30"/>
          <p:cNvSpPr/>
          <p:nvPr/>
        </p:nvSpPr>
        <p:spPr>
          <a:xfrm>
            <a:off x="3703320" y="1508760"/>
            <a:ext cx="288036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3867911" y="1655063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867911" y="1920240"/>
            <a:ext cx="255117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画像 B：热点刺激型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3867911" y="2313432"/>
            <a:ext cx="2551176" cy="2514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触发：短视频、财经热搜、同学收益截图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目标：怕错过上涨机会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痛点：看不懂板块逻辑和风险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需要：热点降温和影响链条</a:t>
            </a:r>
          </a:p>
        </p:txBody>
      </p:sp>
      <p:sp>
        <p:nvSpPr>
          <p:cNvPr id="34" name="Shape 34"/>
          <p:cNvSpPr/>
          <p:nvPr/>
        </p:nvSpPr>
        <p:spPr>
          <a:xfrm>
            <a:off x="6720840" y="1508760"/>
            <a:ext cx="2880360" cy="3429000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6885431" y="1655063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885431" y="1920240"/>
            <a:ext cx="255117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画像 C：小额实践型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885431" y="2313432"/>
            <a:ext cx="2551176" cy="2514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行为：已经买过基金/黄金/货币基金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目标：想总结经验继续学习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痛点：只看盈亏，不会复盘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需要：行为复盘和下一步计划</a:t>
            </a:r>
          </a:p>
        </p:txBody>
      </p:sp>
      <p:sp>
        <p:nvSpPr>
          <p:cNvPr id="38" name="Shape 38"/>
          <p:cNvSpPr/>
          <p:nvPr/>
        </p:nvSpPr>
        <p:spPr>
          <a:xfrm>
            <a:off x="9802368" y="1508760"/>
            <a:ext cx="1417320" cy="3429000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9985248" y="1783080"/>
            <a:ext cx="105156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JTBD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9994392" y="2304288"/>
            <a:ext cx="1024128" cy="1554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当我准备动一笔钱时，帮我判断这笔钱能不能动、这个信息能不能信、这个动作会不会让我失控。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49808" y="5257800"/>
            <a:ext cx="100584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用户不是没有需求，而是在专业知识、同伴经验、情绪承受和现金流稳定性上同时不足。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JOURNEY MAP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用户旅程泳道图：把理财冲动转化为学习闭环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展示场景、情绪、产品触点和 AI 能力如何协同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21792" y="1682495"/>
            <a:ext cx="1097280" cy="237744"/>
          </a:xfrm>
          <a:prstGeom prst="roundRect">
            <a:avLst/>
          </a:prstGeom>
          <a:solidFill>
            <a:srgbClr val="08254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用户行为</a:t>
            </a:r>
          </a:p>
        </p:txBody>
      </p:sp>
      <p:sp>
        <p:nvSpPr>
          <p:cNvPr id="27" name="Shape 27"/>
          <p:cNvSpPr/>
          <p:nvPr/>
        </p:nvSpPr>
        <p:spPr>
          <a:xfrm>
            <a:off x="1828800" y="157276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1901952" y="1682495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奖学金到账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3310128" y="16459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Shape 30"/>
          <p:cNvSpPr/>
          <p:nvPr/>
        </p:nvSpPr>
        <p:spPr>
          <a:xfrm>
            <a:off x="3611880" y="157276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3685032" y="1682495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刷到热点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093208" y="16459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5394960" y="157276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5468112" y="1682495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搜索/提问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876288" y="16459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Shape 36"/>
          <p:cNvSpPr/>
          <p:nvPr/>
        </p:nvSpPr>
        <p:spPr>
          <a:xfrm>
            <a:off x="7178040" y="157276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7251192" y="1682495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准备操作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659367" y="16459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Shape 39"/>
          <p:cNvSpPr/>
          <p:nvPr/>
        </p:nvSpPr>
        <p:spPr>
          <a:xfrm>
            <a:off x="8961120" y="157276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9034272" y="1682495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涨跌后复盘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21792" y="2505456"/>
            <a:ext cx="1097280" cy="23774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用户情绪</a:t>
            </a:r>
          </a:p>
        </p:txBody>
      </p:sp>
      <p:sp>
        <p:nvSpPr>
          <p:cNvPr id="42" name="Shape 42"/>
          <p:cNvSpPr/>
          <p:nvPr/>
        </p:nvSpPr>
        <p:spPr>
          <a:xfrm>
            <a:off x="1828800" y="239572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1901952" y="250545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兴奋</a:t>
            </a:r>
          </a:p>
        </p:txBody>
      </p:sp>
      <p:sp>
        <p:nvSpPr>
          <p:cNvPr id="44" name="Shape 44"/>
          <p:cNvSpPr/>
          <p:nvPr/>
        </p:nvSpPr>
        <p:spPr>
          <a:xfrm>
            <a:off x="3611880" y="239572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3685032" y="250545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怕错过</a:t>
            </a:r>
          </a:p>
        </p:txBody>
      </p:sp>
      <p:sp>
        <p:nvSpPr>
          <p:cNvPr id="46" name="Shape 46"/>
          <p:cNvSpPr/>
          <p:nvPr/>
        </p:nvSpPr>
        <p:spPr>
          <a:xfrm>
            <a:off x="5394960" y="239572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5468112" y="250545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困惑</a:t>
            </a:r>
          </a:p>
        </p:txBody>
      </p:sp>
      <p:sp>
        <p:nvSpPr>
          <p:cNvPr id="48" name="Shape 48"/>
          <p:cNvSpPr/>
          <p:nvPr/>
        </p:nvSpPr>
        <p:spPr>
          <a:xfrm>
            <a:off x="7178040" y="239572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7251192" y="250545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犹豫/冲动</a:t>
            </a:r>
          </a:p>
        </p:txBody>
      </p:sp>
      <p:sp>
        <p:nvSpPr>
          <p:cNvPr id="50" name="Shape 50"/>
          <p:cNvSpPr/>
          <p:nvPr/>
        </p:nvSpPr>
        <p:spPr>
          <a:xfrm>
            <a:off x="8961120" y="239572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9034272" y="250545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焦虑/总结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621792" y="3328416"/>
            <a:ext cx="1097280" cy="237744"/>
          </a:xfrm>
          <a:prstGeom prst="roundRect">
            <a:avLst/>
          </a:prstGeom>
          <a:solidFill>
            <a:srgbClr val="08254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产品触点</a:t>
            </a:r>
          </a:p>
        </p:txBody>
      </p:sp>
      <p:sp>
        <p:nvSpPr>
          <p:cNvPr id="53" name="Shape 53"/>
          <p:cNvSpPr/>
          <p:nvPr/>
        </p:nvSpPr>
        <p:spPr>
          <a:xfrm>
            <a:off x="1828800" y="321868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4" name="Text 54"/>
          <p:cNvSpPr txBox="1"/>
          <p:nvPr/>
        </p:nvSpPr>
        <p:spPr>
          <a:xfrm>
            <a:off x="1901952" y="332841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建档弹窗</a:t>
            </a:r>
          </a:p>
        </p:txBody>
      </p:sp>
      <p:sp>
        <p:nvSpPr>
          <p:cNvPr id="55" name="Shape 55"/>
          <p:cNvSpPr/>
          <p:nvPr/>
        </p:nvSpPr>
        <p:spPr>
          <a:xfrm>
            <a:off x="3611880" y="321868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3685032" y="332841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今日关注</a:t>
            </a:r>
          </a:p>
        </p:txBody>
      </p:sp>
      <p:sp>
        <p:nvSpPr>
          <p:cNvPr id="57" name="Shape 57"/>
          <p:cNvSpPr/>
          <p:nvPr/>
        </p:nvSpPr>
        <p:spPr>
          <a:xfrm>
            <a:off x="5394960" y="321868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8" name="Text 58"/>
          <p:cNvSpPr txBox="1"/>
          <p:nvPr/>
        </p:nvSpPr>
        <p:spPr>
          <a:xfrm>
            <a:off x="5468112" y="332841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知识问答</a:t>
            </a:r>
          </a:p>
        </p:txBody>
      </p:sp>
      <p:sp>
        <p:nvSpPr>
          <p:cNvPr id="59" name="Shape 59"/>
          <p:cNvSpPr/>
          <p:nvPr/>
        </p:nvSpPr>
        <p:spPr>
          <a:xfrm>
            <a:off x="7178040" y="321868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7251192" y="332841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行为复盘</a:t>
            </a:r>
          </a:p>
        </p:txBody>
      </p:sp>
      <p:sp>
        <p:nvSpPr>
          <p:cNvPr id="61" name="Shape 61"/>
          <p:cNvSpPr/>
          <p:nvPr/>
        </p:nvSpPr>
        <p:spPr>
          <a:xfrm>
            <a:off x="8961120" y="3218688"/>
            <a:ext cx="1417320" cy="475488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62" name="Text 62"/>
          <p:cNvSpPr txBox="1"/>
          <p:nvPr/>
        </p:nvSpPr>
        <p:spPr>
          <a:xfrm>
            <a:off x="9034272" y="332841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0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复盘卡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21792" y="4151376"/>
            <a:ext cx="1097280" cy="23774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64" name="Shape 64"/>
          <p:cNvSpPr/>
          <p:nvPr/>
        </p:nvSpPr>
        <p:spPr>
          <a:xfrm>
            <a:off x="1828800" y="404164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1901952" y="415137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真假闲钱识别</a:t>
            </a:r>
          </a:p>
        </p:txBody>
      </p:sp>
      <p:sp>
        <p:nvSpPr>
          <p:cNvPr id="66" name="Shape 66"/>
          <p:cNvSpPr/>
          <p:nvPr/>
        </p:nvSpPr>
        <p:spPr>
          <a:xfrm>
            <a:off x="3611880" y="404164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67" name="Text 67"/>
          <p:cNvSpPr txBox="1"/>
          <p:nvPr/>
        </p:nvSpPr>
        <p:spPr>
          <a:xfrm>
            <a:off x="3685032" y="415137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热点雷达</a:t>
            </a:r>
          </a:p>
        </p:txBody>
      </p:sp>
      <p:sp>
        <p:nvSpPr>
          <p:cNvPr id="68" name="Shape 68"/>
          <p:cNvSpPr/>
          <p:nvPr/>
        </p:nvSpPr>
        <p:spPr>
          <a:xfrm>
            <a:off x="5394960" y="404164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69" name="Text 69"/>
          <p:cNvSpPr txBox="1"/>
          <p:nvPr/>
        </p:nvSpPr>
        <p:spPr>
          <a:xfrm>
            <a:off x="5468112" y="415137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RAG 解释</a:t>
            </a:r>
          </a:p>
        </p:txBody>
      </p:sp>
      <p:sp>
        <p:nvSpPr>
          <p:cNvPr id="70" name="Shape 70"/>
          <p:cNvSpPr/>
          <p:nvPr/>
        </p:nvSpPr>
        <p:spPr>
          <a:xfrm>
            <a:off x="7178040" y="404164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7251192" y="415137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风险判断</a:t>
            </a:r>
          </a:p>
        </p:txBody>
      </p:sp>
      <p:sp>
        <p:nvSpPr>
          <p:cNvPr id="72" name="Shape 72"/>
          <p:cNvSpPr/>
          <p:nvPr/>
        </p:nvSpPr>
        <p:spPr>
          <a:xfrm>
            <a:off x="8961120" y="4041648"/>
            <a:ext cx="1417320" cy="47548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73" name="Text 73"/>
          <p:cNvSpPr txBox="1"/>
          <p:nvPr/>
        </p:nvSpPr>
        <p:spPr>
          <a:xfrm>
            <a:off x="9034272" y="4151376"/>
            <a:ext cx="124358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计划调整</a:t>
            </a:r>
          </a:p>
        </p:txBody>
      </p:sp>
      <p:sp>
        <p:nvSpPr>
          <p:cNvPr id="74" name="Shape 74"/>
          <p:cNvSpPr/>
          <p:nvPr/>
        </p:nvSpPr>
        <p:spPr>
          <a:xfrm>
            <a:off x="749808" y="5074920"/>
            <a:ext cx="10287000" cy="502920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0D6D6"/>
            </a:solidFill>
          </a:ln>
        </p:spPr>
        <p:txBody>
          <a:bodyPr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914400" y="5193792"/>
            <a:ext cx="992124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PM 结论：产品触点必须前置到“动钱前”，用建档、热点降温和复盘机制降低冲动交易概率。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POSITIONING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产品定位：有专业知识的“过来人式”入门理财搭子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不做投顾，不制造交易冲动，陪用户建立理财判断力</a:t>
            </a:r>
          </a:p>
        </p:txBody>
      </p:sp>
      <p:sp>
        <p:nvSpPr>
          <p:cNvPr id="26" name="Shape 26"/>
          <p:cNvSpPr/>
          <p:nvPr/>
        </p:nvSpPr>
        <p:spPr>
          <a:xfrm>
            <a:off x="713232" y="1536192"/>
            <a:ext cx="3657600" cy="3611880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60120" y="1828800"/>
            <a:ext cx="315468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一句话定位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60120" y="2395728"/>
            <a:ext cx="3063240" cy="10058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面向大学生的入门理财陪伴 AI 智能体，帮助学生在动钱之前完成资金判断、知识学习、热点理解和行为复盘。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60120" y="3977639"/>
            <a:ext cx="3063240" cy="51206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产品承诺：不荐股、不代投、不承诺收益。</a:t>
            </a:r>
          </a:p>
        </p:txBody>
      </p:sp>
      <p:sp>
        <p:nvSpPr>
          <p:cNvPr id="30" name="Shape 30"/>
          <p:cNvSpPr/>
          <p:nvPr/>
        </p:nvSpPr>
        <p:spPr>
          <a:xfrm>
            <a:off x="4709160" y="1536192"/>
            <a:ext cx="1920240" cy="3611880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4873752" y="1682495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873752" y="1947672"/>
            <a:ext cx="159105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873752" y="2340864"/>
            <a:ext cx="1591056" cy="2697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像学长学姐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懂基础理财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先共情再拆解</a:t>
            </a:r>
          </a:p>
        </p:txBody>
      </p:sp>
      <p:sp>
        <p:nvSpPr>
          <p:cNvPr id="34" name="Shape 34"/>
          <p:cNvSpPr/>
          <p:nvPr/>
        </p:nvSpPr>
        <p:spPr>
          <a:xfrm>
            <a:off x="6903720" y="1536192"/>
            <a:ext cx="192024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7068312" y="1682495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7068312" y="1947672"/>
            <a:ext cx="159105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068312" y="2340864"/>
            <a:ext cx="1591056" cy="2697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知识解释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热点判断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计划复盘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风险识别</a:t>
            </a:r>
          </a:p>
        </p:txBody>
      </p:sp>
      <p:sp>
        <p:nvSpPr>
          <p:cNvPr id="38" name="Shape 38"/>
          <p:cNvSpPr/>
          <p:nvPr/>
        </p:nvSpPr>
        <p:spPr>
          <a:xfrm>
            <a:off x="9098280" y="1536192"/>
            <a:ext cx="1920240" cy="3611880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9262872" y="1682495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9262872" y="1947672"/>
            <a:ext cx="159105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9262872" y="2340864"/>
            <a:ext cx="1591056" cy="2697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不推荐具体产品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不做收益承诺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不鼓励贷款杠杆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PRODUCT ARCHITECTURE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产品架构：对话总入口 + 三个核心模块 + 风险护栏贯穿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结构简单，但每个模块都能形成可演示闭环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" y="1508760"/>
            <a:ext cx="10515600" cy="566928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14400" y="1664208"/>
            <a:ext cx="987552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钱前问问 App Shell：侧边导航 / 固定聊天框 / 今日关注 / 风险浮窗</a:t>
            </a:r>
          </a:p>
        </p:txBody>
      </p:sp>
      <p:sp>
        <p:nvSpPr>
          <p:cNvPr id="28" name="Shape 28"/>
          <p:cNvSpPr/>
          <p:nvPr/>
        </p:nvSpPr>
        <p:spPr>
          <a:xfrm>
            <a:off x="914400" y="2743200"/>
            <a:ext cx="278892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1078992" y="288950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078992" y="3154680"/>
            <a:ext cx="24597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理财起点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78992" y="3547872"/>
            <a:ext cx="2459736" cy="6858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沉浸式问卷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资金分层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真假闲钱识别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785616" y="32461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4343400" y="2743200"/>
            <a:ext cx="278892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4507992" y="288950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507992" y="3154680"/>
            <a:ext cx="24597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热点雷达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4507992" y="3547872"/>
            <a:ext cx="2459736" cy="6858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实时新闻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AI 解读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同频弹幕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214616" y="32461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Shape 38"/>
          <p:cNvSpPr/>
          <p:nvPr/>
        </p:nvSpPr>
        <p:spPr>
          <a:xfrm>
            <a:off x="7772400" y="2743200"/>
            <a:ext cx="278892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7936992" y="288950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936992" y="3154680"/>
            <a:ext cx="24597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计划复盘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936992" y="3547872"/>
            <a:ext cx="2459736" cy="6858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小额计划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行为复盘</a:t>
            </a:r>
          </a:p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经验沉淀</a:t>
            </a:r>
          </a:p>
        </p:txBody>
      </p:sp>
      <p:sp>
        <p:nvSpPr>
          <p:cNvPr id="42" name="Shape 42"/>
          <p:cNvSpPr/>
          <p:nvPr/>
        </p:nvSpPr>
        <p:spPr>
          <a:xfrm>
            <a:off x="2240280" y="4892040"/>
            <a:ext cx="7498079" cy="56692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0D6D6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2423160" y="5038344"/>
            <a:ext cx="713232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风险护栏：贷款 / 杠杆 / 带单 / 保本高收益 / 回本冲动 → 浮窗打断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AGENT ARCHITECTURE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智能体技术架构：LLM + RAG + 新闻工具 + 风控规则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体现不是写死问答，而是多能力编排</a:t>
            </a:r>
          </a:p>
        </p:txBody>
      </p:sp>
      <p:sp>
        <p:nvSpPr>
          <p:cNvPr id="26" name="Shape 26"/>
          <p:cNvSpPr/>
          <p:nvPr/>
        </p:nvSpPr>
        <p:spPr>
          <a:xfrm>
            <a:off x="685800" y="1600200"/>
            <a:ext cx="2011680" cy="3611880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32688" y="1874519"/>
            <a:ext cx="1463040" cy="23774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4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96112" y="2359152"/>
            <a:ext cx="1554480" cy="12801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聊天问题</a:t>
            </a:r>
          </a:p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点击新闻</a:t>
            </a:r>
          </a:p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提交复盘</a:t>
            </a:r>
          </a:p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触发风险词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834640" y="30175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Shape 30"/>
          <p:cNvSpPr/>
          <p:nvPr/>
        </p:nvSpPr>
        <p:spPr>
          <a:xfrm>
            <a:off x="3246120" y="1600200"/>
            <a:ext cx="2148840" cy="3611880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3520440" y="1874519"/>
            <a:ext cx="1645920" cy="23774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意图路由器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520440" y="2395728"/>
            <a:ext cx="1554480" cy="10972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知识问答</a:t>
            </a:r>
          </a:p>
          <a:p>
            <a:pPr algn="c"/>
            <a:r>
              <a:rPr lang="zh-CN"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热点分析</a:t>
            </a:r>
          </a:p>
          <a:p>
            <a:pPr algn="c"/>
            <a:r>
              <a:rPr lang="zh-CN"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计划复盘</a:t>
            </a:r>
          </a:p>
          <a:p>
            <a:pPr algn="c"/>
            <a:r>
              <a:rPr lang="zh-CN"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风险护栏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559552" y="30175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Shape 34"/>
          <p:cNvSpPr/>
          <p:nvPr/>
        </p:nvSpPr>
        <p:spPr>
          <a:xfrm>
            <a:off x="5943600" y="1444752"/>
            <a:ext cx="21945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6144768" y="1554480"/>
            <a:ext cx="169164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RAG 知识库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144768" y="1828800"/>
            <a:ext cx="16916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概念/资产/风险/费率</a:t>
            </a:r>
          </a:p>
        </p:txBody>
      </p:sp>
      <p:sp>
        <p:nvSpPr>
          <p:cNvPr id="37" name="Shape 37"/>
          <p:cNvSpPr/>
          <p:nvPr/>
        </p:nvSpPr>
        <p:spPr>
          <a:xfrm>
            <a:off x="5943600" y="2404872"/>
            <a:ext cx="21945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6144768" y="2514600"/>
            <a:ext cx="169164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新闻工具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144768" y="2788920"/>
            <a:ext cx="16916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财经/金融/科技 RSS</a:t>
            </a:r>
          </a:p>
        </p:txBody>
      </p:sp>
      <p:sp>
        <p:nvSpPr>
          <p:cNvPr id="40" name="Shape 40"/>
          <p:cNvSpPr/>
          <p:nvPr/>
        </p:nvSpPr>
        <p:spPr>
          <a:xfrm>
            <a:off x="5943600" y="3364992"/>
            <a:ext cx="21945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6144768" y="3474720"/>
            <a:ext cx="169164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144768" y="3749040"/>
            <a:ext cx="16916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贷款/杠杆/带单拦截</a:t>
            </a:r>
          </a:p>
        </p:txBody>
      </p:sp>
      <p:sp>
        <p:nvSpPr>
          <p:cNvPr id="43" name="Shape 43"/>
          <p:cNvSpPr/>
          <p:nvPr/>
        </p:nvSpPr>
        <p:spPr>
          <a:xfrm>
            <a:off x="5943600" y="4325112"/>
            <a:ext cx="21945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6144768" y="4434840"/>
            <a:ext cx="169164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智谱 LLM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144768" y="4709160"/>
            <a:ext cx="16916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自然语言与个性化分析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8366760" y="3017520"/>
            <a:ext cx="329184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7" name="Shape 47"/>
          <p:cNvSpPr/>
          <p:nvPr/>
        </p:nvSpPr>
        <p:spPr>
          <a:xfrm>
            <a:off x="8732520" y="1600200"/>
            <a:ext cx="2240280" cy="3611880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0D6D6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9006840" y="1874519"/>
            <a:ext cx="1691640" cy="23774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智能输出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9006840" y="2395728"/>
            <a:ext cx="1645920" cy="12801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拆解</a:t>
            </a:r>
          </a:p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  <a:p>
            <a:pPr algn="c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风险弹窗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INTERACTION PROTOTYPE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交互原型：钱前问问主界面中保真线框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把智能体体验画出来：建档、对话、今日关注、风险护栏都在同一产品界面内发生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" y="1353312"/>
            <a:ext cx="1065276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640080" y="1353312"/>
            <a:ext cx="10652760" cy="438912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86384" y="1508760"/>
            <a:ext cx="118872" cy="1188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969264" y="1508760"/>
            <a:ext cx="118872" cy="1188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1152144" y="1508760"/>
            <a:ext cx="118872" cy="1188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426464" y="1481328"/>
            <a:ext cx="9646920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钱前问问 Web App / Agent Workspace</a:t>
            </a:r>
          </a:p>
        </p:txBody>
      </p:sp>
      <p:sp>
        <p:nvSpPr>
          <p:cNvPr id="32" name="Shape 32"/>
          <p:cNvSpPr/>
          <p:nvPr/>
        </p:nvSpPr>
        <p:spPr>
          <a:xfrm>
            <a:off x="640080" y="1792224"/>
            <a:ext cx="1078992" cy="4087368"/>
          </a:xfrm>
          <a:prstGeom prst="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04671" y="2048256"/>
            <a:ext cx="713232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钱前问问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786384" y="2569464"/>
            <a:ext cx="749808" cy="21945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对话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86384" y="2990088"/>
            <a:ext cx="749808" cy="219456"/>
          </a:xfrm>
          <a:prstGeom prst="roundRect">
            <a:avLst/>
          </a:prstGeom>
          <a:solidFill>
            <a:srgbClr val="12345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786384" y="3410712"/>
            <a:ext cx="749808" cy="219456"/>
          </a:xfrm>
          <a:prstGeom prst="roundRect">
            <a:avLst/>
          </a:prstGeom>
          <a:solidFill>
            <a:srgbClr val="12345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热点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86384" y="3831336"/>
            <a:ext cx="749808" cy="219456"/>
          </a:xfrm>
          <a:prstGeom prst="roundRect">
            <a:avLst/>
          </a:prstGeom>
          <a:solidFill>
            <a:srgbClr val="12345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38" name="Shape 38"/>
          <p:cNvSpPr/>
          <p:nvPr/>
        </p:nvSpPr>
        <p:spPr>
          <a:xfrm>
            <a:off x="1901952" y="1938528"/>
            <a:ext cx="5166360" cy="3401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2084831" y="2121408"/>
            <a:ext cx="2286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对话智能体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321808" y="2103120"/>
            <a:ext cx="777240" cy="256032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199632" y="2103120"/>
            <a:ext cx="502920" cy="256032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2148840" y="2542032"/>
            <a:ext cx="3429000" cy="310896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我有 3000 元奖学金，想开始理财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2148840" y="2999232"/>
            <a:ext cx="4389120" cy="310896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先别急着买。我们先看这笔钱是不是真闲钱。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2148840" y="3639312"/>
            <a:ext cx="3886200" cy="310896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最近 AI 和芯片很火，会影响哪些板块？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2148840" y="4096512"/>
            <a:ext cx="4526280" cy="310896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热点雷达会拆：影响变量、相关板块、利好利空和新手观察点。</a:t>
            </a:r>
          </a:p>
        </p:txBody>
      </p:sp>
      <p:sp>
        <p:nvSpPr>
          <p:cNvPr id="46" name="Shape 46"/>
          <p:cNvSpPr/>
          <p:nvPr/>
        </p:nvSpPr>
        <p:spPr>
          <a:xfrm>
            <a:off x="2148840" y="4800600"/>
            <a:ext cx="4343400" cy="310896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2304288" y="4873752"/>
            <a:ext cx="2286000" cy="10972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7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输入问题 / 粘贴新闻 / 描述准备操作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5989320" y="4828032"/>
            <a:ext cx="502920" cy="256032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发送</a:t>
            </a:r>
          </a:p>
        </p:txBody>
      </p:sp>
      <p:sp>
        <p:nvSpPr>
          <p:cNvPr id="49" name="Shape 49"/>
          <p:cNvSpPr/>
          <p:nvPr/>
        </p:nvSpPr>
        <p:spPr>
          <a:xfrm>
            <a:off x="7269480" y="1938528"/>
            <a:ext cx="3566160" cy="1417320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7452360" y="2121408"/>
            <a:ext cx="1645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理财起点卡</a:t>
            </a:r>
          </a:p>
        </p:txBody>
      </p:sp>
      <p:sp>
        <p:nvSpPr>
          <p:cNvPr id="51" name="Shape 51"/>
          <p:cNvSpPr/>
          <p:nvPr/>
        </p:nvSpPr>
        <p:spPr>
          <a:xfrm>
            <a:off x="7461504" y="2450592"/>
            <a:ext cx="960120" cy="640080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2" name="Text 52"/>
          <p:cNvSpPr txBox="1"/>
          <p:nvPr/>
        </p:nvSpPr>
        <p:spPr>
          <a:xfrm>
            <a:off x="7571231" y="2560320"/>
            <a:ext cx="740664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7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可学习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7571231" y="2788920"/>
            <a:ext cx="74066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300 元</a:t>
            </a:r>
          </a:p>
        </p:txBody>
      </p:sp>
      <p:sp>
        <p:nvSpPr>
          <p:cNvPr id="54" name="Shape 54"/>
          <p:cNvSpPr/>
          <p:nvPr/>
        </p:nvSpPr>
        <p:spPr>
          <a:xfrm>
            <a:off x="8577072" y="2450592"/>
            <a:ext cx="960120" cy="640080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8686800" y="2560320"/>
            <a:ext cx="740664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7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8686800" y="2788920"/>
            <a:ext cx="74066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偏低</a:t>
            </a:r>
          </a:p>
        </p:txBody>
      </p:sp>
      <p:sp>
        <p:nvSpPr>
          <p:cNvPr id="57" name="Shape 57"/>
          <p:cNvSpPr/>
          <p:nvPr/>
        </p:nvSpPr>
        <p:spPr>
          <a:xfrm>
            <a:off x="9692640" y="2450592"/>
            <a:ext cx="960120" cy="640080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8" name="Text 58"/>
          <p:cNvSpPr txBox="1"/>
          <p:nvPr/>
        </p:nvSpPr>
        <p:spPr>
          <a:xfrm>
            <a:off x="9802367" y="2560320"/>
            <a:ext cx="740664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7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动机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9802367" y="2788920"/>
            <a:ext cx="740664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看热点</a:t>
            </a:r>
          </a:p>
        </p:txBody>
      </p:sp>
      <p:sp>
        <p:nvSpPr>
          <p:cNvPr id="60" name="Shape 60"/>
          <p:cNvSpPr/>
          <p:nvPr/>
        </p:nvSpPr>
        <p:spPr>
          <a:xfrm>
            <a:off x="7269480" y="3547872"/>
            <a:ext cx="35661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7452360" y="3730752"/>
            <a:ext cx="1645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今日关注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7479792" y="4041648"/>
            <a:ext cx="23774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AI 算力需求升温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9921240" y="4041648"/>
            <a:ext cx="45720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解读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7479792" y="4315968"/>
            <a:ext cx="23774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利率变化影响债券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9921240" y="4315968"/>
            <a:ext cx="45720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解读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7479792" y="4590288"/>
            <a:ext cx="23774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消费政策释放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9921240" y="4590288"/>
            <a:ext cx="45720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解读</a:t>
            </a:r>
          </a:p>
        </p:txBody>
      </p:sp>
      <p:sp>
        <p:nvSpPr>
          <p:cNvPr id="68" name="Shape 68"/>
          <p:cNvSpPr/>
          <p:nvPr/>
        </p:nvSpPr>
        <p:spPr>
          <a:xfrm>
            <a:off x="3291840" y="1856231"/>
            <a:ext cx="5212080" cy="3493008"/>
          </a:xfrm>
          <a:prstGeom prst="roundRect">
            <a:avLst/>
          </a:prstGeom>
          <a:solidFill>
            <a:srgbClr val="FFFFFF">
              <a:alpha val="94000"/>
            </a:srgbClr>
          </a:solidFill>
          <a:ln w="9525">
            <a:solidFill>
              <a:srgbClr val="C00000"/>
            </a:solidFill>
          </a:ln>
        </p:spPr>
        <p:txBody>
          <a:bodyPr/>
          <a:lstStyle/>
          <a:p/>
        </p:txBody>
      </p:sp>
      <p:sp>
        <p:nvSpPr>
          <p:cNvPr id="69" name="Text 69"/>
          <p:cNvSpPr txBox="1"/>
          <p:nvPr/>
        </p:nvSpPr>
        <p:spPr>
          <a:xfrm>
            <a:off x="3611880" y="2148840"/>
            <a:ext cx="44805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风险浮窗 / 行为打断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3840480" y="2651760"/>
            <a:ext cx="3977639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检测到“花呗、借钱、杠杆、带单、保本高收益”等高危信号时，普通对话暂停，优先给出风险劝阻。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4160520" y="3822191"/>
            <a:ext cx="1463040" cy="256032"/>
          </a:xfrm>
          <a:prstGeom prst="roundRect">
            <a:avLst/>
          </a:prstGeom>
          <a:solidFill>
            <a:srgbClr val="EEF3F8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低风险学习路径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5989320" y="3822191"/>
            <a:ext cx="1234440" cy="256032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我知道了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ADVANCED FEATURE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进阶功能：实时新闻热点雷达如何成为理财学习依据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把新闻转化为“变量-板块-风险-观察任务”，而不是直接转化为买入建议</a:t>
            </a:r>
          </a:p>
        </p:txBody>
      </p:sp>
      <p:sp>
        <p:nvSpPr>
          <p:cNvPr id="26" name="Shape 26"/>
          <p:cNvSpPr/>
          <p:nvPr/>
        </p:nvSpPr>
        <p:spPr>
          <a:xfrm>
            <a:off x="4937760" y="2148840"/>
            <a:ext cx="1965960" cy="1417320"/>
          </a:xfrm>
          <a:prstGeom prst="hexagon">
            <a:avLst/>
          </a:prstGeom>
          <a:solidFill>
            <a:srgbClr val="08254D"/>
          </a:solidFill>
          <a:ln w="12700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5285232" y="2542032"/>
            <a:ext cx="1261872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热点雷达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349240" y="2926080"/>
            <a:ext cx="1143000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News × RAG × LLM</a:t>
            </a:r>
          </a:p>
        </p:txBody>
      </p:sp>
      <p:sp>
        <p:nvSpPr>
          <p:cNvPr id="29" name="Shape 29"/>
          <p:cNvSpPr/>
          <p:nvPr/>
        </p:nvSpPr>
        <p:spPr>
          <a:xfrm>
            <a:off x="960120" y="1572768"/>
            <a:ext cx="1627632" cy="987552"/>
          </a:xfrm>
          <a:prstGeom prst="hexagon">
            <a:avLst/>
          </a:prstGeom>
          <a:solidFill>
            <a:srgbClr val="F8FAFD"/>
          </a:solidFill>
          <a:ln w="12700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1069848" y="1773936"/>
            <a:ext cx="1408176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新闻采集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69848" y="2029967"/>
            <a:ext cx="1408176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7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金融/财经/科技/重大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671316" y="2359151"/>
            <a:ext cx="32004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33" name="Shape 33"/>
          <p:cNvSpPr/>
          <p:nvPr/>
        </p:nvSpPr>
        <p:spPr>
          <a:xfrm>
            <a:off x="3657600" y="1298448"/>
            <a:ext cx="1627632" cy="987552"/>
          </a:xfrm>
          <a:prstGeom prst="hexagon">
            <a:avLst/>
          </a:prstGeom>
          <a:solidFill>
            <a:srgbClr val="F8FAFD"/>
          </a:solidFill>
          <a:ln w="12700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3767328" y="1499616"/>
            <a:ext cx="1408176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事件分类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3767328" y="1755648"/>
            <a:ext cx="1408176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7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政策/利率/产业/公司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020056" y="2221992"/>
            <a:ext cx="32004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37" name="Shape 37"/>
          <p:cNvSpPr/>
          <p:nvPr/>
        </p:nvSpPr>
        <p:spPr>
          <a:xfrm>
            <a:off x="7040880" y="1298448"/>
            <a:ext cx="1627632" cy="987552"/>
          </a:xfrm>
          <a:prstGeom prst="hexagon">
            <a:avLst/>
          </a:prstGeom>
          <a:solidFill>
            <a:srgbClr val="F8FAFD"/>
          </a:solidFill>
          <a:ln w="12700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7150608" y="1499616"/>
            <a:ext cx="1408176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变量抽取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7150608" y="1755648"/>
            <a:ext cx="1408176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7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需求/成本/流动性/情绪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711696" y="2221992"/>
            <a:ext cx="32004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41" name="Shape 41"/>
          <p:cNvSpPr/>
          <p:nvPr/>
        </p:nvSpPr>
        <p:spPr>
          <a:xfrm>
            <a:off x="9326880" y="1572768"/>
            <a:ext cx="1627632" cy="987552"/>
          </a:xfrm>
          <a:prstGeom prst="hexagon">
            <a:avLst/>
          </a:prstGeom>
          <a:solidFill>
            <a:srgbClr val="F8FAFD"/>
          </a:solidFill>
          <a:ln w="12700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9436607" y="1773936"/>
            <a:ext cx="1408176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板块映射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436607" y="2029967"/>
            <a:ext cx="1408176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7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AI/消费/黄金/债券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7854696" y="2359151"/>
            <a:ext cx="32004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45" name="Shape 45"/>
          <p:cNvSpPr/>
          <p:nvPr/>
        </p:nvSpPr>
        <p:spPr>
          <a:xfrm>
            <a:off x="7818120" y="4114800"/>
            <a:ext cx="1627632" cy="987552"/>
          </a:xfrm>
          <a:prstGeom prst="hexagon">
            <a:avLst/>
          </a:prstGeom>
          <a:solidFill>
            <a:srgbClr val="FFF8F8"/>
          </a:solidFill>
          <a:ln w="12700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7927848" y="4315968"/>
            <a:ext cx="1408176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风险校正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7927848" y="4572000"/>
            <a:ext cx="1408176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7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估值/回撤/波动/已涨幅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7100316" y="3630168"/>
            <a:ext cx="32004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49" name="Shape 49"/>
          <p:cNvSpPr/>
          <p:nvPr/>
        </p:nvSpPr>
        <p:spPr>
          <a:xfrm>
            <a:off x="2926080" y="4114800"/>
            <a:ext cx="1627632" cy="987552"/>
          </a:xfrm>
          <a:prstGeom prst="hexagon">
            <a:avLst/>
          </a:prstGeom>
          <a:solidFill>
            <a:srgbClr val="FFF8F8"/>
          </a:solidFill>
          <a:ln w="12700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3035808" y="4315968"/>
            <a:ext cx="1408176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学习输出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3035808" y="4572000"/>
            <a:ext cx="1408176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7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利好利空/观察点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654296" y="3630168"/>
            <a:ext cx="32004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53" name="Shape 53"/>
          <p:cNvSpPr/>
          <p:nvPr/>
        </p:nvSpPr>
        <p:spPr>
          <a:xfrm>
            <a:off x="868680" y="5349240"/>
            <a:ext cx="4754880" cy="420624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54" name="Text 54"/>
          <p:cNvSpPr txBox="1"/>
          <p:nvPr/>
        </p:nvSpPr>
        <p:spPr>
          <a:xfrm>
            <a:off x="1005840" y="5468112"/>
            <a:ext cx="4480560" cy="12801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Hot Score = 频次 × 来源权重 × 情绪强度 × 用户相关性 − 风险校正</a:t>
            </a:r>
          </a:p>
        </p:txBody>
      </p:sp>
      <p:sp>
        <p:nvSpPr>
          <p:cNvPr id="55" name="Shape 55"/>
          <p:cNvSpPr/>
          <p:nvPr/>
        </p:nvSpPr>
        <p:spPr>
          <a:xfrm>
            <a:off x="5989320" y="5349240"/>
            <a:ext cx="4434840" cy="420624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0D6D6"/>
            </a:solidFill>
          </a:ln>
        </p:spPr>
        <p:txBody>
          <a:bodyPr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6144768" y="5468112"/>
            <a:ext cx="4160520" cy="12801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输出边界：只做学习型解读，不输出具体买卖建议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REVIEW &amp; RISK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计划复盘与风险决策树：让每次操作都能被解释和沉淀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准备买入不是错误，真正要识别的是资金越界、情绪失控和高危诱导</a:t>
            </a:r>
          </a:p>
        </p:txBody>
      </p:sp>
      <p:sp>
        <p:nvSpPr>
          <p:cNvPr id="26" name="Shape 26"/>
          <p:cNvSpPr/>
          <p:nvPr/>
        </p:nvSpPr>
        <p:spPr>
          <a:xfrm>
            <a:off x="731520" y="1463040"/>
            <a:ext cx="3474720" cy="3977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60120" y="1719072"/>
            <a:ext cx="29260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行为复盘表单原型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60120" y="2148840"/>
            <a:ext cx="2880360" cy="25603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行为：准备买入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60120" y="2532888"/>
            <a:ext cx="2880360" cy="25603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对象：新能源基金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60120" y="2916936"/>
            <a:ext cx="2880360" cy="25603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金额：500 元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960120" y="3300984"/>
            <a:ext cx="2880360" cy="25603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原因：热点想跟进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960120" y="3685032"/>
            <a:ext cx="2880360" cy="25603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状态：怕错过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60120" y="4069080"/>
            <a:ext cx="2880360" cy="25603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补充说明：动用奖学金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960120" y="4773168"/>
            <a:ext cx="2880360" cy="256032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ctr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生成复盘</a:t>
            </a:r>
          </a:p>
        </p:txBody>
      </p:sp>
      <p:sp>
        <p:nvSpPr>
          <p:cNvPr id="35" name="Shape 35"/>
          <p:cNvSpPr/>
          <p:nvPr/>
        </p:nvSpPr>
        <p:spPr>
          <a:xfrm>
            <a:off x="4800600" y="1508760"/>
            <a:ext cx="2606040" cy="53035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4983480" y="1655063"/>
            <a:ext cx="21488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是否借钱/杠杆/带单？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726679" y="1581912"/>
            <a:ext cx="1417320" cy="20116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0D6D6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是 → 风险浮窗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9345168" y="1581912"/>
            <a:ext cx="118872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9" name="Shape 39"/>
          <p:cNvSpPr/>
          <p:nvPr/>
        </p:nvSpPr>
        <p:spPr>
          <a:xfrm>
            <a:off x="4800600" y="2468880"/>
            <a:ext cx="2606040" cy="53035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4983480" y="2615184"/>
            <a:ext cx="21488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金额是否超过学习资金？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726679" y="2542032"/>
            <a:ext cx="1417320" cy="20116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0D6D6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是 → 降额/暂停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9345168" y="2542032"/>
            <a:ext cx="118872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43" name="Shape 43"/>
          <p:cNvSpPr/>
          <p:nvPr/>
        </p:nvSpPr>
        <p:spPr>
          <a:xfrm>
            <a:off x="4800600" y="3429000"/>
            <a:ext cx="2606040" cy="53035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4983480" y="3575304"/>
            <a:ext cx="21488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情绪是否 FOMO/焦虑？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7726679" y="3502152"/>
            <a:ext cx="1417320" cy="20116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0D6D6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是 → 冷静 24h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345168" y="3502152"/>
            <a:ext cx="118872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47" name="Shape 47"/>
          <p:cNvSpPr/>
          <p:nvPr/>
        </p:nvSpPr>
        <p:spPr>
          <a:xfrm>
            <a:off x="4800600" y="4389120"/>
            <a:ext cx="2606040" cy="530352"/>
          </a:xfrm>
          <a:prstGeom prst="roundRect">
            <a:avLst/>
          </a:prstGeom>
          <a:solidFill>
            <a:srgbClr val="F8FAFD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4983480" y="4535424"/>
            <a:ext cx="2148840" cy="146304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9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是否能说清买入逻辑？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7726679" y="4462272"/>
            <a:ext cx="1417320" cy="201168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0D6D6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否 → 先学习观察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9345168" y="4462272"/>
            <a:ext cx="118872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是 → 小额尝试+复盘</a:t>
            </a:r>
          </a:p>
        </p:txBody>
      </p:sp>
      <p:sp>
        <p:nvSpPr>
          <p:cNvPr id="51" name="Shape 51"/>
          <p:cNvSpPr/>
          <p:nvPr/>
        </p:nvSpPr>
        <p:spPr>
          <a:xfrm>
            <a:off x="4937760" y="5303520"/>
            <a:ext cx="5577840" cy="420624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/>
          <a:lstStyle/>
          <a:p/>
        </p:txBody>
      </p:sp>
      <p:sp>
        <p:nvSpPr>
          <p:cNvPr id="52" name="Text 52"/>
          <p:cNvSpPr txBox="1"/>
          <p:nvPr/>
        </p:nvSpPr>
        <p:spPr>
          <a:xfrm>
            <a:off x="5138928" y="5422392"/>
            <a:ext cx="5166360" cy="12801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最终输出：建议暂停 / 降额观察 / 小额尝试 + 明确复盘日期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HIGHLIGHTS &amp; PRIORITY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产品亮点与功能优先级：用 PM 方法说明为什么先做这些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核心能力可落地，进阶能力有想象空间</a:t>
            </a:r>
          </a:p>
        </p:txBody>
      </p:sp>
      <p:sp>
        <p:nvSpPr>
          <p:cNvPr id="26" name="Shape 26"/>
          <p:cNvSpPr/>
          <p:nvPr/>
        </p:nvSpPr>
        <p:spPr>
          <a:xfrm>
            <a:off x="658368" y="1444752"/>
            <a:ext cx="48006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22959" y="1591056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H1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2959" y="1856232"/>
            <a:ext cx="447141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人设差异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59" y="2249424"/>
            <a:ext cx="4471416" cy="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学长学姐式过来人，而非销售型理财顾问</a:t>
            </a:r>
          </a:p>
        </p:txBody>
      </p:sp>
      <p:sp>
        <p:nvSpPr>
          <p:cNvPr id="30" name="Shape 30"/>
          <p:cNvSpPr/>
          <p:nvPr/>
        </p:nvSpPr>
        <p:spPr>
          <a:xfrm>
            <a:off x="6007607" y="1444752"/>
            <a:ext cx="48006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172199" y="1591056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H2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72199" y="1856232"/>
            <a:ext cx="447141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上下文个性化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172199" y="2249424"/>
            <a:ext cx="4471416" cy="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每次回答都结合资金、风险和动机档案</a:t>
            </a:r>
          </a:p>
        </p:txBody>
      </p:sp>
      <p:sp>
        <p:nvSpPr>
          <p:cNvPr id="34" name="Shape 34"/>
          <p:cNvSpPr/>
          <p:nvPr/>
        </p:nvSpPr>
        <p:spPr>
          <a:xfrm>
            <a:off x="658368" y="2633472"/>
            <a:ext cx="48006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822959" y="2779776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H3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22959" y="3044952"/>
            <a:ext cx="447141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热点教育化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22959" y="3438144"/>
            <a:ext cx="4471416" cy="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新闻变成变量-板块-风险-观察任务</a:t>
            </a:r>
          </a:p>
        </p:txBody>
      </p:sp>
      <p:sp>
        <p:nvSpPr>
          <p:cNvPr id="38" name="Shape 38"/>
          <p:cNvSpPr/>
          <p:nvPr/>
        </p:nvSpPr>
        <p:spPr>
          <a:xfrm>
            <a:off x="6007607" y="2633472"/>
            <a:ext cx="48006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6172199" y="2779776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H4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172199" y="3044952"/>
            <a:ext cx="447141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行为风控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172199" y="3438144"/>
            <a:ext cx="4471416" cy="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复盘与风险浮窗打断高危动作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749808" y="3977639"/>
            <a:ext cx="201168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RICE 优先级矩阵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749808" y="4343400"/>
            <a:ext cx="1883664" cy="237744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2670048" y="4343400"/>
            <a:ext cx="1014983" cy="237744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Reach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3721608" y="4343400"/>
            <a:ext cx="1014983" cy="237744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Impact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4773168" y="4343400"/>
            <a:ext cx="1197864" cy="237744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6007608" y="4343400"/>
            <a:ext cx="1014983" cy="237744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Effort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7059168" y="4343400"/>
            <a:ext cx="969264" cy="237744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749808" y="4636008"/>
            <a:ext cx="18836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理财起点建档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2670048" y="4636008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3721608" y="4636008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773168" y="4636008"/>
            <a:ext cx="11978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007608" y="4636008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7059168" y="4636008"/>
            <a:ext cx="9692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749808" y="4928616"/>
            <a:ext cx="18836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热点雷达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2670048" y="4928616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中高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3721608" y="4928616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4773168" y="4928616"/>
            <a:ext cx="11978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6007608" y="4928616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7059168" y="4928616"/>
            <a:ext cx="9692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749808" y="5221224"/>
            <a:ext cx="18836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计划复盘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2670048" y="5221224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3721608" y="5221224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4773168" y="5221224"/>
            <a:ext cx="11978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6007608" y="5221224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7059168" y="5221224"/>
            <a:ext cx="9692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749808" y="5513832"/>
            <a:ext cx="18836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轻互动社区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2670048" y="5513832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3721608" y="5513832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4773168" y="5513832"/>
            <a:ext cx="11978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6007608" y="5513832"/>
            <a:ext cx="1014983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7059168" y="5513832"/>
            <a:ext cx="969264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c"/>
            <a:r>
              <a:rPr lang="zh-CN" sz="800" b="1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66928" y="256032"/>
            <a:ext cx="20116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EVALUATION &amp; DEMO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69880" y="5879592"/>
            <a:ext cx="4114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r>
              <a:rPr lang="zh-CN" sz="900" b="1">
                <a:solidFill>
                  <a:srgbClr val="8A989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585216"/>
            <a:ext cx="658368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66928" y="713232"/>
            <a:ext cx="70408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评测方式与演示交付：验证智能体是否真正解决问题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5216" y="1170432"/>
            <a:ext cx="73152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覆盖知识、热点、复盘、风险和可用性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58368" y="1508760"/>
            <a:ext cx="1892807" cy="310896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评测项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2624328" y="1508760"/>
            <a:ext cx="3904487" cy="310896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测试样例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601968" y="1508760"/>
            <a:ext cx="4636008" cy="310896"/>
          </a:xfrm>
          <a:prstGeom prst="roundRect">
            <a:avLst/>
          </a:prstGeom>
          <a:solidFill>
            <a:srgbClr val="08254D"/>
          </a:solidFill>
          <a:ln w="9525">
            <a:solidFill>
              <a:srgbClr val="08254D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通过标准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58368" y="1920240"/>
            <a:ext cx="189280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知识问答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2624328" y="1920240"/>
            <a:ext cx="390448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什么是回测？和回撤有什么区别？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601968" y="1920240"/>
            <a:ext cx="4636008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解释清楚差异，并提醒历史不代表未来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58368" y="2523744"/>
            <a:ext cx="189280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热点雷达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2624328" y="2523744"/>
            <a:ext cx="390448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AI/芯片新闻影响哪些板块？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601968" y="2523744"/>
            <a:ext cx="4636008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拆变量、板块、利好利空和新手观察点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58368" y="3127248"/>
            <a:ext cx="189280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行为复盘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2624328" y="3127248"/>
            <a:ext cx="390448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准备买入 100 元货币基金，比较平静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601968" y="3127248"/>
            <a:ext cx="4636008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允许小额学习并给出复盘边界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58368" y="3730752"/>
            <a:ext cx="189280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风险护栏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2624328" y="3730752"/>
            <a:ext cx="390448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想用花呗买基金，涨了就卖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601968" y="3730752"/>
            <a:ext cx="4636008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触发浮窗，明确劝阻信用投资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58368" y="4334256"/>
            <a:ext cx="189280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可用性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2624328" y="4334256"/>
            <a:ext cx="3904487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新闻可点击、计划可刷新、聊天可滚动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601968" y="4334256"/>
            <a:ext cx="4636008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流程完整，可录制 3 分钟演示</a:t>
            </a:r>
          </a:p>
        </p:txBody>
      </p:sp>
      <p:sp>
        <p:nvSpPr>
          <p:cNvPr id="44" name="Shape 44"/>
          <p:cNvSpPr/>
          <p:nvPr/>
        </p:nvSpPr>
        <p:spPr>
          <a:xfrm>
            <a:off x="685800" y="5212080"/>
            <a:ext cx="32461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850392" y="535838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QR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850392" y="5623560"/>
            <a:ext cx="29169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二维码交付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850392" y="6016752"/>
            <a:ext cx="2916936" cy="-201167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部署云平台后，用公开链接生成二维码；本地 127.0.0.1 不能提交。</a:t>
            </a:r>
          </a:p>
        </p:txBody>
      </p:sp>
      <p:sp>
        <p:nvSpPr>
          <p:cNvPr id="48" name="Shape 48"/>
          <p:cNvSpPr/>
          <p:nvPr/>
        </p:nvSpPr>
        <p:spPr>
          <a:xfrm>
            <a:off x="4160520" y="5212080"/>
            <a:ext cx="32461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4325112" y="535838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MP4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4325112" y="5623560"/>
            <a:ext cx="29169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视频演示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4325112" y="6016752"/>
            <a:ext cx="2916936" cy="-201167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3 分钟横屏：人设 → 建档 → 热点 → 复盘 → 风险浮窗。</a:t>
            </a:r>
          </a:p>
        </p:txBody>
      </p:sp>
      <p:sp>
        <p:nvSpPr>
          <p:cNvPr id="52" name="Shape 52"/>
          <p:cNvSpPr/>
          <p:nvPr/>
        </p:nvSpPr>
        <p:spPr>
          <a:xfrm>
            <a:off x="7635240" y="5212080"/>
            <a:ext cx="32461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7799831" y="5358384"/>
            <a:ext cx="640080" cy="228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7799831" y="5623560"/>
            <a:ext cx="2916936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>
                <a:solidFill>
                  <a:srgbClr val="08254D"/>
                </a:solidFill>
                <a:latin typeface="Microsoft YaHei"/>
                <a:ea typeface="Microsoft YaHei"/>
                <a:cs typeface="Microsoft YaHei"/>
              </a:rPr>
              <a:t>报告导出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7799831" y="6016752"/>
            <a:ext cx="2916936" cy="-201167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000" b="0">
                <a:solidFill>
                  <a:srgbClr val="5F6D7A"/>
                </a:solidFill>
                <a:latin typeface="Microsoft YaHei"/>
                <a:ea typeface="Microsoft YaHei"/>
                <a:cs typeface="Microsoft YaHei"/>
              </a:rPr>
              <a:t>• 补齐二维码与最终截图后导出 PDF。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宽屏</PresentationFormat>
  <Slides>12</Slides>
  <Notes>0</Notes>
  <HiddenSlides>0</HiddenSlides>
  <ScaleCrop>false</ScaleCrop>
  <HeadingPairs>
    <vt:vector size="2" baseType="variant">
      <vt:variant>
        <vt:lpstr>幻灯片标题</vt:lpstr>
      </vt:variant>
      <vt:variant>
        <vt:i4>12</vt:i4>
      </vt:variant>
    </vt:vector>
  </HeadingPairs>
  <TitlesOfParts>
    <vt:vector size="12" baseType="lpstr">
      <vt:lpstr>1</vt:lpstr>
      <vt:lpstr>2</vt:lpstr>
      <vt:lpstr>3</vt:lpstr>
      <vt:lpstr>4</vt:lpstr>
      <vt:lpstr>5</vt:lpstr>
      <vt:lpstr>6</vt:lpstr>
      <vt:lpstr>7</vt:lpstr>
      <vt:lpstr>8</vt:lpstr>
      <vt:lpstr>9</vt:lpstr>
      <vt:lpstr>10</vt:lpstr>
      <vt:lpstr>11</vt:lpstr>
      <vt:lpstr>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钱前问问 产品方案报告</dc:title>
  <dc:subject>大学生理财陪伴AI搭子智能体</dc:subject>
  <dc:creator/>
  <cp:lastModifiedBy/>
  <dcterms:created xsi:type="dcterms:W3CDTF">2026-05-16T06:36:46Z</dcterms:created>
  <dcterms:modified xsi:type="dcterms:W3CDTF">2026-05-16T06:36:46Z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B87E8DDA613B49C8B0CE95E6C20B1D3C</vt:lpwstr>
  </property>
  <property fmtid="{D5CDD505-2E9C-101B-9397-08002B2CF9AE}" pid="3" name="KSOProductBuildVer">
    <vt:lpwstr>2052-12.8.2.20793</vt:lpwstr>
  </property>
</Properties>
</file>